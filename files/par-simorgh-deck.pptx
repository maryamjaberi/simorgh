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A28"/>
                </a:solidFill>
                <a:latin typeface="Tahoma"/>
              </a:defRPr>
            </a:pPr>
            <a:r>
              <a:rPr sz="1300" b="0" i="0" u="none" strike="noStrike">
                <a:solidFill>
                  <a:srgbClr val="131A28"/>
                </a:solidFill>
                <a:latin typeface="Tahoma"/>
              </a:rPr>
              <a:t>تلفاتِ مستقیمِ مدل‌شده (هزار نفر)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کفِ بازه</c:v>
                </c:pt>
              </c:strCache>
            </c:strRef>
          </c:tx>
          <c:spPr>
            <a:solidFill>
              <a:srgbClr val="3FB6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گذارِ میثاقی</c:v>
                  </c:pt>
                  <c:pt idx="1">
                    <c:v>گسستِ سریع</c:v>
                  </c:pt>
                  <c:pt idx="2">
                    <c:v>چرخهٔ خشونت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سقفِ بازه</c:v>
                </c:pt>
              </c:strCache>
            </c:strRef>
          </c:tx>
          <c:spPr>
            <a:solidFill>
              <a:srgbClr val="D96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گذارِ میثاقی</c:v>
                  </c:pt>
                  <c:pt idx="1">
                    <c:v>گسستِ سریع</c:v>
                  </c:pt>
                  <c:pt idx="2">
                    <c:v>چرخهٔ خشونت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50</c:v>
                </c:pt>
                <c:pt idx="2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A28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9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کف</c:v>
                </c:pt>
              </c:strCache>
            </c:strRef>
          </c:tx>
          <c:spPr>
            <a:solidFill>
              <a:srgbClr val="5B8A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گذارِ میثاقی</c:v>
                  </c:pt>
                  <c:pt idx="1">
                    <c:v>گسستِ سریع</c:v>
                  </c:pt>
                  <c:pt idx="2">
                    <c:v>وضعِ موجود</c:v>
                  </c:pt>
                  <c:pt idx="3">
                    <c:v>چرخهٔ خشونت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50</c:v>
                </c:pt>
                <c:pt idx="2">
                  <c:v>-400</c:v>
                </c:pt>
                <c:pt idx="3">
                  <c:v>-600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سقف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A64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گذارِ میثاقی</c:v>
                  </c:pt>
                  <c:pt idx="1">
                    <c:v>گسستِ سریع</c:v>
                  </c:pt>
                  <c:pt idx="2">
                    <c:v>وضعِ موجود</c:v>
                  </c:pt>
                  <c:pt idx="3">
                    <c:v>چرخهٔ خشونت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800</c:v>
                </c:pt>
                <c:pt idx="1">
                  <c:v>300</c:v>
                </c:pt>
                <c:pt idx="2">
                  <c:v>-600</c:v>
                </c:pt>
                <c:pt idx="3">
                  <c:v>-1200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A64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1A28"/>
                </a:solidFill>
                <a:latin typeface="Tahom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9"/>
              </a:solidFill>
              <a:latin typeface="Tahoma"/>
              <a:cs typeface="Tahom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سند نه بیانیه است نه درخواست حمایت. یک مدل تصمیم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3274" y="914400"/>
            <a:ext cx="371246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74520" y="914400"/>
            <a:ext cx="371246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40088" y="1259058"/>
            <a:ext cx="534432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1259058"/>
            <a:ext cx="534432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6903" y="1603717"/>
            <a:ext cx="697617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4520" y="1603717"/>
            <a:ext cx="697617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718" y="1948375"/>
            <a:ext cx="860802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948375"/>
            <a:ext cx="860802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533" y="2293034"/>
            <a:ext cx="1023987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74520" y="2293034"/>
            <a:ext cx="1023987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7347" y="2637692"/>
            <a:ext cx="1187173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74520" y="2637692"/>
            <a:ext cx="1187173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3118" y="2982351"/>
            <a:ext cx="1301402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4520" y="2982351"/>
            <a:ext cx="1301402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303" y="3327009"/>
            <a:ext cx="1138217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4520" y="3327009"/>
            <a:ext cx="1138217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9488" y="3671668"/>
            <a:ext cx="975032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3671668"/>
            <a:ext cx="975032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2673" y="4016326"/>
            <a:ext cx="811847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4016326"/>
            <a:ext cx="811847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25859" y="4360985"/>
            <a:ext cx="648661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4360985"/>
            <a:ext cx="648661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89044" y="4705643"/>
            <a:ext cx="485476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74520" y="4705643"/>
            <a:ext cx="485476" cy="384048"/>
          </a:xfrm>
          <a:prstGeom prst="line">
            <a:avLst/>
          </a:prstGeom>
          <a:noFill/>
          <a:ln w="20320">
            <a:solidFill>
              <a:srgbClr val="5B8AD9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2229" y="5050302"/>
            <a:ext cx="322291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5050302"/>
            <a:ext cx="322291" cy="384048"/>
          </a:xfrm>
          <a:prstGeom prst="line">
            <a:avLst/>
          </a:prstGeom>
          <a:noFill/>
          <a:ln w="20320">
            <a:solidFill>
              <a:srgbClr val="D9A441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15414" y="5394960"/>
            <a:ext cx="159106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74520" y="5394960"/>
            <a:ext cx="159106" cy="384048"/>
          </a:xfrm>
          <a:prstGeom prst="line">
            <a:avLst/>
          </a:prstGeom>
          <a:noFill/>
          <a:ln w="20320">
            <a:solidFill>
              <a:srgbClr val="D9604A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731520"/>
            <a:ext cx="914" cy="4937760"/>
          </a:xfrm>
          <a:prstGeom prst="line">
            <a:avLst/>
          </a:prstGeom>
          <a:noFill/>
          <a:ln w="2794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سند تحلیلی–پیشنهادی · نسخهٔ ۱٫۰ · مرداد ۱۴۰۵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91840" y="182880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66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پَرِ سیمرغ</a:t>
            </a:r>
            <a:endParaRPr lang="en-US" sz="6600" dirty="0"/>
          </a:p>
        </p:txBody>
      </p:sp>
      <p:sp>
        <p:nvSpPr>
          <p:cNvPr id="33" name="Text 31"/>
          <p:cNvSpPr txBox="1"/>
          <p:nvPr/>
        </p:nvSpPr>
        <p:spPr>
          <a:xfrm>
            <a:off x="3291840" y="3063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6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از اجماعِ سلبی به تأسیسِ ایجابی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703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طراحیِ سازوکارِ گذار در ایران، بر پایهٔ نظریهٔ بازی‌ها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80960" y="4434840"/>
            <a:ext cx="3840480" cy="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9184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مبنای داده: «ایران، از تبار تا تأسیس» — دفترهای هفتم و هشتم</a:t>
            </a:r>
            <a:endParaRPr lang="en-US" sz="1200" dirty="0"/>
          </a:p>
          <a:p>
            <a:pPr rtl="1" algn="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خطاب به: شاهزاده رضا پهلوی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پیش از هرچیز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این سند چیست و چه نیست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1993392"/>
            <a:ext cx="402336" cy="402336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2708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0078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هست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084832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 مدلِ تصمیم: نشان می‌دهد وضعیتِ امروز، در زبانِ فنیِ نظریهٔ بازی، چه نوع بازی‌ای است و کدام مداخله تعادل را جابه‌جا می‌کند.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27080" y="3502152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27080" y="3502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0954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نیست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93592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بیانیه، درخواستِ حمایت، اعلامِ وفاداری، یا پیش‌بینیِ آینده. منبعِ اصلی صراحتاً می‌گوید پیش‌بینی نمی‌کند.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27080" y="5010912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2708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71830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قاعده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102352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هرجا داوریِ ارزشی شده، علامت خورده. هرجا عدد حدسی بوده، بازه آمده نه رقم. هرجا داده نبوده، همین گفته شده.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تصریحِ روش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صفر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خلاصهٔ مدیریتی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۷۲٫۹٪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موافقِ جدایی دین از حکومت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پیمایشِ خودِ حاکمیت، ۱۴۰۲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508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5B8A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۳۰٫۷٪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همان گویه، هشت سال پیش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جهش در یک نسل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50876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30184" y="16916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۸۰–۸۵٪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377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اکثریتی که بر سرِ نخواستن اجماع دارد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بر سرِ خواستن ندارد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40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۸۷٫۹٪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تورمِ نقطه‌به‌نقطه، تیر ۱۴۰۵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پوششِ سبدِ معیشت: ۴۴٪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3712" y="3840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۴۰٪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بیکارانِ کشور، فارغ‌التحصیلِ دانشگاه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بیکاری ۱۵–۲۴ سال: ۲۳٫۴٪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657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0184" y="3840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۵۰ میلیارد $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4526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سالانهٔ فرارِ مغزها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صادراتِ نفت ۲۰۱۹: ۲۰ میلیارد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شش عددی که کلِ سند رویشان ایستاده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تشخیص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اشتباهِ رایج، در تشخیصِ نوعِ بازی است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BEDEB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آنچه فرض می‌شود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بازیِ مجموع‑صفر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سودِ یک طرف، عیناً زیانِ طرف مقابل. راه‌حل: غلبه.</a:t>
            </a:r>
            <a:endParaRPr lang="en-US" sz="1300" dirty="0"/>
          </a:p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نتیجه: منابع صرفِ «متقاعدکردنِ بیشتر» می‌شود.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E9F6F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6E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آنچه هست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بازیِ هماهنگی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14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چند تعادلِ نش، هر دو پایدار. راه‌حل: ساختنِ باورِ مشترک.</a:t>
            </a:r>
            <a:endParaRPr lang="en-US" sz="1300" dirty="0"/>
          </a:p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نتیجه: منابع صرفِ هم‌زمان‌سازی می‌شود.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شاهدِ تشخیص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01400" y="443484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0140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ترجیحاتِ اکثریت سال‌هاست تغییر کرده، بی‌آنکه رفتار تغییر کند — شکافی که در بازیِ مجموع‌صفر بی‌معناست.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201400" y="500176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20140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01768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اعتراض‌ها موجی و ناهم‌زمان‌اند: الگویِ کلاسیکِ شکستِ هماهنگی، نه شکستِ انگیزه.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201400" y="556869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1201400" y="5568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568696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هدفِ سرکوب، حذفِ اکثریت نیست؛ جلوگیری از هم‌زمانی است. یعنی خودِ حاکمیت هم بازی را هماهنگی می‌فهمد.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۱٫۲ — چرا این بازی، بازیِ هماهنگی است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۱٫۱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بازیکنان و ائتلاف‌ها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7080" y="2029968"/>
            <a:ext cx="365760" cy="365760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755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ائتلافِ حاکم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۱۰–۱۵٪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جزءِ ناهمگون: ایمانی، منفعتی، ترسی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بقا — نه پیروزی. کافی است بازی تمام نشود.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27080" y="3493008"/>
            <a:ext cx="365760" cy="365760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589520" y="32186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اکثریت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۸۰–۸۵٪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918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پراکنده در شش محور: طبقه، نسل، قومیت، دین، جنسیت، جغرافیا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291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خروج از وضع موجود، مشروط به هزینهٔ فردیِ قابل‌تحمل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27080" y="4956048"/>
            <a:ext cx="365760" cy="3657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89520" y="46817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بازیگرانِ مرزی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120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7548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زیرساخت، سرمایه، دیاسپورا، بازیگر خارجی، رسانه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حداکثرسازیِ اختیار؛ پیوستن به برندهٔ محتمل، دیرتر از همه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124358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توابعِ سودِ غالب   ·   ترکیب   ·   اندازه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ارقام ۱۰–۱۵٪ و ۸۰–۸۵٪ برآوردِ کیفی‌اند، نه یافتهٔ پیمایشی. استدلالِ سند به بازهٔ محافظه‌کارانه‌تر — دوسوم — هم مقاوم است.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سازوکاری که میز را قفل کرده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7007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29000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شکار گوزن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Stag Hunt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957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دو تعادل: هماهنگیِ همگانی با ریسکِ بالا، و سکوتِ همگانی که امن است. تعادلِ امن، جاذبِ پیش‌فرض است.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05472" y="17007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205472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نبودِ نقطهٔ کانونی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553712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Focal Point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3957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«نه» یک احساسِ مشترک است، نه یک مختصات. هماهنگی نیاز دارد: چه کاری، چه تاریخی، با چه علامتی.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48132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81944" y="170078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81944" y="1700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17190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نامتقارنیِ هزینه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Public good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239572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عمومی است، هزینه خصوصی و سنگین. عقلانیتِ فردی حکم به انتظار می‌کند؛ انتظارِ همگانی یعنی هرگز.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2160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3941064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آبشار اطلاعاتی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325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Preference falsification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وقتی ترجیحِ واقعی پنهان است، همه یکدیگر را کم‌برآورد می‌کنند و اکثریت خودش را نمی‌بیند.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25112" y="372160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5472" y="3941064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205472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53712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سایهٔ آینده</a:t>
            </a:r>
            <a:endParaRPr lang="en-US" sz="1550" dirty="0"/>
          </a:p>
        </p:txBody>
      </p:sp>
      <p:sp>
        <p:nvSpPr>
          <p:cNvPr id="32" name="Text 30"/>
          <p:cNvSpPr txBox="1"/>
          <p:nvPr/>
        </p:nvSpPr>
        <p:spPr>
          <a:xfrm>
            <a:off x="4553712" y="4325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Shadow of the future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53712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ابهام در سرنوشتِ فردا، ائتلافِ حاکم را می‌چسباند. جزء دوم و سوم تا فردایی نبینند، جابه‌جا نمی‌شوند.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01584" y="3721608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81944" y="3941064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981944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30184" y="39593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خطرِ فردمحوری</a:t>
            </a:r>
            <a:endParaRPr lang="en-US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8330184" y="4325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Commitment problem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330184" y="463600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تمرکزِ اراده در یک نفر، چرخهٔ تاریخیِ ایران را بازتولید می‌کند: فرافکنی، پیروی، و بعد سرنگونی.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پنج سازوکار ساختاری‌اند، نه اخلاقی — و با طراحیِ سازوکار حل می‌شوند، نه با شعار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ماتریسِ تصمیمِ شهروند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57784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بقیه هماهنگ می‌شوند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بقیه صبر می‌کنند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555480" y="2560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وارد می‌شوم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555480" y="41605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صبر می‌کنم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2103120"/>
            <a:ext cx="3703320" cy="1463040"/>
          </a:xfrm>
          <a:prstGeom prst="roundRect">
            <a:avLst>
              <a:gd name="adj" fmla="val 7500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23591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تأسیس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2880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بالاترین سودِ جمعی · تعادلِ مطلوب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103120"/>
            <a:ext cx="3703320" cy="1463040"/>
          </a:xfrm>
          <a:prstGeom prst="roundRect">
            <a:avLst>
              <a:gd name="adj" fmla="val 7500"/>
            </a:avLst>
          </a:prstGeom>
          <a:solidFill>
            <a:srgbClr val="131A2B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23591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کامل، سودِ صفر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28803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زندان، جان، شغل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3703320"/>
            <a:ext cx="3703320" cy="1463040"/>
          </a:xfrm>
          <a:prstGeom prst="roundRect">
            <a:avLst>
              <a:gd name="adj" fmla="val 7500"/>
            </a:avLst>
          </a:prstGeom>
          <a:solidFill>
            <a:srgbClr val="131A2B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9593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سواری مجانی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480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سود بدون هزینه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3703320"/>
            <a:ext cx="3703320" cy="1463040"/>
          </a:xfrm>
          <a:prstGeom prst="roundRect">
            <a:avLst>
              <a:gd name="adj" fmla="val 7500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20240" y="395935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وضع موجود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920240" y="4480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فرسایشِ تدریجیِ همه · تعادلِ فعلی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دو خانهٔ قطری، تعادلِ نش‌اند. جابه‌جایی با تغییرِ ترجیح ممکن نیست — ترجیح از پیش تغییر کرده.</a:t>
            </a:r>
            <a:endParaRPr lang="en-US" sz="1300" dirty="0"/>
          </a:p>
          <a:p>
            <a:pPr rtl="1"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تنها دو راه: تغییرِ باورِ هر نفر دربارهٔ رفتارِ دیگران، یا کاهشِ هزینهٔ خانهٔ بالا-چپ.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نقشهٔ میز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جناح، هفت ناحیه، ۳۷ نقش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27632" y="1563624"/>
            <a:ext cx="3145536" cy="3145536"/>
          </a:xfrm>
          <a:prstGeom prst="ellipse">
            <a:avLst/>
          </a:prstGeom>
          <a:solidFill>
            <a:srgbClr val="D9604A">
              <a:alpha val="12000"/>
            </a:srgbClr>
          </a:solidFill>
          <a:ln w="19050">
            <a:solidFill>
              <a:srgbClr val="D960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47872" y="1563624"/>
            <a:ext cx="3145536" cy="3145536"/>
          </a:xfrm>
          <a:prstGeom prst="ellipse">
            <a:avLst/>
          </a:prstGeom>
          <a:solidFill>
            <a:srgbClr val="3FB6A8">
              <a:alpha val="12000"/>
            </a:srgbClr>
          </a:solidFill>
          <a:ln w="19050">
            <a:solidFill>
              <a:srgbClr val="3FB6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7752" y="3090672"/>
            <a:ext cx="3145536" cy="3145536"/>
          </a:xfrm>
          <a:prstGeom prst="ellipse">
            <a:avLst/>
          </a:prstGeom>
          <a:solidFill>
            <a:srgbClr val="D9A441">
              <a:alpha val="12000"/>
            </a:srgbClr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مافیا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E6E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شهر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5641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مستقل‌ها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 نقش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834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0E6E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۱۷ نقش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5074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۵ نقش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۱۰ نقشِ همپوشان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097280"/>
            <a:ext cx="5394960" cy="539496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D9A44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72400" y="1463040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01000" y="1572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فقط مافیا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01000" y="18745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هستهٔ سخت: ایمان یا منفعتِ روشن. زودتر از بقیه جابه‌جا نمی‌شود.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2596896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01000" y="27066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مافیا ∩ شهر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30083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پرجمعیت‌ترین ناحیهٔ همپوشانی و تمامِ مسئلهٔ بازی: کارمندِ ناگزیر، ضابطِ خُرد، طلبهٔ مردد، تکنوکرات، قاضی.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3730752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3840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E6E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فقط شهر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4142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اکثریتِ واقعی و نقش‌هایی که کارِ ساختن می‌کنند: شمردن، ثبت‌کردن، وصل‌کردن، ضمانت‌کردن.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4864608"/>
            <a:ext cx="3840480" cy="100584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01000" y="4974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B8A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مرکز — هر سه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01000" y="52760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زیرساخت و واسطه. هیچ طرفی بدونشان حرکت نمی‌کند و هیچ‌کدام واقعاً طرفِ کسی نیستند.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5943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حلقهٔ بیرونی: سیمرغ — نه یک جناحِ چهارم، بلکه شرطِ اینکه این هفت ناحیه کنار هم بایستند یا در برابر هم.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پیشینه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هفت شبی که گذشت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292840" y="1664208"/>
            <a:ext cx="201168" cy="201168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5" name="Shape 3"/>
          <p:cNvSpPr/>
          <p:nvPr/>
        </p:nvSpPr>
        <p:spPr>
          <a:xfrm>
            <a:off x="11388852" y="1865376"/>
            <a:ext cx="0" cy="594360"/>
          </a:xfrm>
          <a:prstGeom prst="line">
            <a:avLst/>
          </a:prstGeom>
          <a:noFill/>
          <a:ln w="19050">
            <a:solidFill>
              <a:srgbClr val="2B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4692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۱۳۵۷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536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مافیا با رأیِ خودِ شهر انتخاب شد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727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اجماع اجتماعی بود، اجماع نخبگانی نه. سازمان‌یافته‌ترین گروه برنده شد، نه پرطرفدارترین.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292840" y="2459736"/>
            <a:ext cx="201168" cy="201168"/>
          </a:xfrm>
          <a:prstGeom prst="ellipse">
            <a:avLst/>
          </a:prstGeom>
          <a:solidFill>
            <a:srgbClr val="97A2BC"/>
          </a:solidFill>
          <a:ln/>
        </p:spPr>
      </p:sp>
      <p:sp>
        <p:nvSpPr>
          <p:cNvPr id="10" name="Shape 8"/>
          <p:cNvSpPr/>
          <p:nvPr/>
        </p:nvSpPr>
        <p:spPr>
          <a:xfrm>
            <a:off x="11388852" y="2660904"/>
            <a:ext cx="0" cy="594360"/>
          </a:xfrm>
          <a:prstGeom prst="line">
            <a:avLst/>
          </a:prstGeom>
          <a:noFill/>
          <a:ln w="19050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46920" y="2331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۱۳۷۶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اولین تلاش برای رأی‌گرفتن از داخلِ بازی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36829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«جامعه صدای متفاوتی شنید و همراهی کرد. خفه‌اش کردند.» سه بار تکرار شد.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292840" y="3255264"/>
            <a:ext cx="201168" cy="201168"/>
          </a:xfrm>
          <a:prstGeom prst="ellipse">
            <a:avLst/>
          </a:prstGeom>
          <a:solidFill>
            <a:srgbClr val="97A2B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388852" y="3456432"/>
            <a:ext cx="0" cy="594360"/>
          </a:xfrm>
          <a:prstGeom prst="line">
            <a:avLst/>
          </a:prstGeom>
          <a:noFill/>
          <a:ln w="19050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46920" y="31272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۱۳۸۸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کارتِ اصلاح سوخت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6382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بزرگ‌ترین کوهورت تاریخ، هم بازار را از دست داد هم صندوق را.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292840" y="4050792"/>
            <a:ext cx="201168" cy="201168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388852" y="4251960"/>
            <a:ext cx="0" cy="594360"/>
          </a:xfrm>
          <a:prstGeom prst="line">
            <a:avLst/>
          </a:prstGeom>
          <a:noFill/>
          <a:ln w="19050">
            <a:solidFill>
              <a:srgbClr val="2B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46920" y="39227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۱۳۹۷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9227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نقطهٔ شکستِ اقتصادی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5935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فقر در دو سال ۸ واحد بالا رفت و روی ۳۰٪ تثبیت شد.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292840" y="4846320"/>
            <a:ext cx="201168" cy="201168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88852" y="5047488"/>
            <a:ext cx="0" cy="594360"/>
          </a:xfrm>
          <a:prstGeom prst="line">
            <a:avLst/>
          </a:prstGeom>
          <a:noFill/>
          <a:ln w="19050">
            <a:solidFill>
              <a:srgbClr val="2B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6920" y="47183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۱۴۰۱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4718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نقش‌ها بازتعریف شدند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548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پروندهٔ گروه‌های تجزیه‌طلب تا حد زیادی بسته شد. زن، سوژهٔ محوری.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292840" y="5641848"/>
            <a:ext cx="201168" cy="20116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46920" y="55138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۱۴۰۴ دی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5513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شبِ بی‌سابقه — و رقص بر مزار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5504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چرخهٔ انتقام آغاز نشد. طبق قانونِ گذار، مهم‌ترین شاخصِ برد.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هر شب، ترکیبِ نقش‌ها عوض شد — نه گرداننده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قانونِ طلاییِ میز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موفقیتِ گذار با میزانِ خشونت،</a:t>
            </a:r>
            <a:endParaRPr lang="en-US" sz="4000" dirty="0"/>
          </a:p>
          <a:p>
            <a:pPr rtl="1" algn="ct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نسبتِ عکس دارد.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20624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تنها گزاره‌ای که همهٔ صداهای این پرونده — از محافظه‌کار تا جمهوری‌خواه، از پادشاهی‌خواه تا جامعه‌شناسِ منتقد — بر سرش توافق دارند.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937760" y="5166360"/>
            <a:ext cx="228600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534924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به همین دلیل، تنها داوریِ ارزشیِ این سند این است:</a:t>
            </a:r>
            <a:endParaRPr lang="en-US" sz="1300" dirty="0"/>
          </a:p>
          <a:p>
            <a:pPr rtl="1"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کاهشِ خشونت، بر سرعتِ گذار اولویت دارد.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۷ — الف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جانی: سه سناریوی گذار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5836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728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قیاسِ تاریخی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02996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آفریقای جنوبی ۱۹۹۰–۹۴: چند هزار کشته در دورهٔ مذاکرات، بدون جنگ داخلی. لهستان ۱۹۸۹: نزدیک به صفر.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06640" y="292608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0540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آن سوی طیف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3558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سوریه: صدها هزار کشته و بیش از ۱۲ میلیون آواره، از جمعیتی حدود یک‌چهارمِ ایران.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42519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3799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تعدیلِ اعمال‌شده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6817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شهرنشینیِ ۷۷٪ · ارزیابیِ منبع دربارهٔ پایین بودنِ خطرِ تجزیه · رفتارِ مشاهده‌شدهٔ دی ۱۴۰۴ که چرخهٔ انتقام را آغاز نکرد.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بازه‌های مدل‌شده، نه پیش‌بینی. عدم قطعیت بالاست.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۷ — 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بازدهِ ده‌سالهٔ خالص، به میلیارد دلار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0020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E9F6F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7830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E6E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نسبتِ اهرم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 به ۱۰٬۰۰۰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6700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هزینهٔ اجراییِ هر پنج ابتکار: ده‌ها میلیون دلار.</a:t>
            </a:r>
            <a:endParaRPr lang="en-US" sz="1100" dirty="0"/>
          </a:p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تفاوتِ بازدهِ سناریوها: هزار میلیارد.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138160" y="379476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931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حتی با ۵٪ احتمالِ موفقیت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4224528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ارزشِ انتظاریِ اقدام همچنان به‌شدت مثبت می‌ماند — و ارزشِ انتظاریِ بی‌عملی، منفی. «ماندن» یک گزینهٔ بی‌هزینه نیست.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گزینهٔ صفر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«ماندن» هم قیمت دارد — فقط آهسته‌تر پرداخت می‌شود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۱٫۳۵ – ۱٫۷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نرخِ باروری</a:t>
            </a:r>
            <a:endParaRPr lang="en-US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همه زیر سطحِ جانشینی (۲٫۱). تهران ≈۱٫۱۵.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8013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۴٫۸ ← ۳٫۱۸ م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جمعیتِ دانشجویی</a:t>
            </a:r>
            <a:endParaRPr lang="en-US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خودِ منبعِ تولیدِ نخبه، در حال باریک‌شدن.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130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×۵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نرخِ رشدِ سالمندی</a:t>
            </a:r>
            <a:endParaRPr lang="en-US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نسبت به رشدِ کلِ جمعیت. پیش‌بینی ۳۱٪ تا ۱۴۳۰.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440680" cy="1783080"/>
          </a:xfrm>
          <a:prstGeom prst="roundRect">
            <a:avLst>
              <a:gd name="adj" fmla="val 6154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8130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۹۷۹٬۹۲۳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4348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موالید ۱۴۰۳</a:t>
            </a:r>
            <a:endParaRPr lang="en-US" sz="1200" dirty="0"/>
          </a:p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برابر ۱٬۹۵۷٬۰۰۰ در ۱۳۶۵.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جامعه‌ای که هم‌زمان جوان‌ترین کوهورتش را از دست می‌دهد و کوهورتِ بعدی را نمی‌سازد، پنجرهٔ فرصتش را با شتاب می‌بندد.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پنج ابتکارِ پیشنهادی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   ·   افق   ·   کارکردِ فنی   ·   ابتکار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91088" y="172821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91088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166420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میثاقِ چهاربندی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642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تولیدِ نقطهٔ کانونی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1664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۹۰ روز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664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ناچیز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91088" y="2660904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91088" y="2660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5968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اعلامیهٔ عدالت انتقالی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5968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تغییرِ سایهٔ آینده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259689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۶ ماه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5968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پایین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91088" y="3593592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991088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52958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تعریفِ پیشینیِ نقشِ شخصی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529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ابزارِ تعهد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011680" y="35295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۹۰ روز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352958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شخصی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15968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91088" y="4526280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91088" y="4526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4622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صندوقِ مقاومت + شبکهٔ حمایت</a:t>
            </a:r>
            <a:endParaRPr lang="en-US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44622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رفعِ نامتقارنیِ هزینه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011680" y="44622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 ماه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46227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۲۰–۶۰ م$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248656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91088" y="5458968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91088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53949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نهادِ داده + دبیرخانه</a:t>
            </a:r>
            <a:endParaRPr lang="en-US" sz="155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5394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شکستنِ آبشار اطلاعاتی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2011680" y="5394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۹۰ تا ۹۰۰ روز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394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۳–۸ م$/سال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اثرِ مجموعه، ضربی است نه جمعی — هیچ‌کدام به‌تنهایی کافی نیست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ابتکار سوم — پرهزینه‌ترین و مؤثرترین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ابزارِ تعهد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نظریهٔ بازی، ابزارِ تعهد اقدامی است که دامنهٔ انتخابِ آیندهٔ خودِ بازیگر را عامدانه محدود می‌کند — و دقیقاً به همین دلیل، اعتبارِ حرفش را چند برابر می‌کند.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گزینهٔ الف — تعهدِ کامل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اعلامِ مکتوبِ عدم‌نامزدی در هر انتخاباتِ پس از گذار، و عدم‌پذیرشِ هر سمتِ اجرایی.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اثر: حداکثری. کلِ استدلالِ «او دنبالِ قدرت است» را از میز برمی‌دارد؛ هزینهٔ پیوستنِ جمهوری‌خواهان و مرددها را به صفر نزدیک می‌کند؛ و الگویی می‌سازد که چهار دهه غایب بوده.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هزینه: بالا و برگشت‌ناپذیر.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440680" cy="2834640"/>
          </a:xfrm>
          <a:prstGeom prst="roundRect">
            <a:avLst>
              <a:gd name="adj" fmla="val 3871"/>
            </a:avLst>
          </a:prstGeom>
          <a:solidFill>
            <a:srgbClr val="131A2B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2402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گزینهٔ ب — تعهدِ محدود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517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اعلامِ سقفِ زمانیِ صریح برای هر نقش، به‌علاوهٔ تعهد به داوریِ نهادِ مستقل.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33756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اثر: متوسط. بخشی از ابهام را رفع می‌کند اما استدلالِ رقیب را کاملاً خنثی نمی‌کند.</a:t>
            </a: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endParaRPr lang="en-US" sz="1150" dirty="0"/>
          </a:p>
          <a:p>
            <a:pPr rtl="1" algn="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هزینه: متوسط.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این یک توصیهٔ اخلاقی نیست؛ یک محاسبهٔ استراتژیک است: بازدهِ اصلی‌اش، تبدیلِ یک مدعی به یک ضامن — و ضامن، در بازیِ هماهنگی، جایگاهی است که هیچ رقیبی نمی‌تواند تصرفش کند.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موقعیتِ استراتژیک: سه دارایی و یک بدهی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858000" cy="932688"/>
          </a:xfrm>
          <a:prstGeom prst="roundRect">
            <a:avLst>
              <a:gd name="adj" fmla="val 11765"/>
            </a:avLst>
          </a:prstGeom>
          <a:solidFill>
            <a:srgbClr val="E9F6F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1728216"/>
            <a:ext cx="402336" cy="402336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57276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سازمان‌یافتگیِ نسبی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8366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 بازیِ ۵۷، سازمان‌یافتگی — نه محبوبیت — تعیین‌کنندهٔ برنده بود.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6858000" cy="932688"/>
          </a:xfrm>
          <a:prstGeom prst="roundRect">
            <a:avLst>
              <a:gd name="adj" fmla="val 11765"/>
            </a:avLst>
          </a:prstGeom>
          <a:solidFill>
            <a:srgbClr val="E9F6F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20840" y="2779776"/>
            <a:ext cx="402336" cy="402336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779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243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ظرفیتِ تولیدِ نقطهٔ کانونی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352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نقطهٔ کانونی لزوماً بهترین گزینه نیست؛ گزینه‌ای است که همه می‌دانند بقیه هم به آن فکر می‌کنند.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6858000" cy="932688"/>
          </a:xfrm>
          <a:prstGeom prst="roundRect">
            <a:avLst>
              <a:gd name="adj" fmla="val 11765"/>
            </a:avLst>
          </a:prstGeom>
          <a:solidFill>
            <a:srgbClr val="E9F6F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20840" y="3831336"/>
            <a:ext cx="402336" cy="402336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758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دسترسی به جزء دوم و سوم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867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رساندنِ پیامِ «فردای تو تعریف‌شده است» از کانالِ اپوزیسیونِ سازمان‌نیافته عملاً ناممکن است.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80960" y="1463040"/>
            <a:ext cx="3931920" cy="2788920"/>
          </a:xfrm>
          <a:prstGeom prst="roundRect">
            <a:avLst>
              <a:gd name="adj" fmla="val 3934"/>
            </a:avLst>
          </a:prstGeom>
          <a:solidFill>
            <a:srgbClr val="FBEDEB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16276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بدهی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19659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«لایه‌هایی در درونِ گروه‌های پادشاهی‌خواه وجود دارند که کنش‌هایشان پس‌زننده است… اگر خودشان را با مواضعِ آقای رضا پهلوی هم‌فاز کنند، ۸۰ تا ۹۰ درصدِ مسئله حل می‌شود.»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909560" y="34015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ارزیابیِ یک تحلیل‌گرِ بیرونی، نقل‌شده در دفتر هشتم. تنها خطری که او برای این جریان می‌بیند، از درونِ آن است.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617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خوانشِ نظریهٔ بازی: خشونتِ کلامیِ هواداران یک عاملیتِ منفی است که هزینهٔ پیوستن را برای بازیگرانِ مردد بالا می‌برد — در حالی که هر نقطهٔ کانونی باید کم‌هزینه‌ترین نقطه برای پیوستن باشد.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حذفِ این ارزیابی، سند را به تعارف تبدیل می‌کرد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اجرا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برنامهٔ ۹۰ / ۹ / ۹۰۰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۹۰ روز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57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سوزاندنِ پَرِ یکم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نهادِ داده و آینه‌دار: انتشارِ ماهانهٔ اندازهٔ واقعیِ اکثریت. هم‌زمان: نسخهٔ صفرِ میثاق و جمع‌آوریِ امضای فراجناحی.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4315968"/>
            <a:ext cx="3108960" cy="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25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آبشار اطلاعاتی · نقطهٔ کانونی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50876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 ماه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157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ساختنِ صندوق و سپر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صندوقِ مقاومتِ صنفی و شبکهٔ حقوقی-درمانی. بدون این دو، اعتصابِ سراسری یک آرزوست.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53712" y="4315968"/>
            <a:ext cx="3108960" cy="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3712" y="4425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نامتقارنیِ هزینه · ترسِ جزء دوم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01584" y="1508760"/>
            <a:ext cx="3566160" cy="3611880"/>
          </a:xfrm>
          <a:prstGeom prst="roundRect">
            <a:avLst>
              <a:gd name="adj" fmla="val 3077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0184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۹۰۰ روز</a:t>
            </a:r>
            <a:endParaRPr lang="en-US" sz="2300" dirty="0"/>
          </a:p>
        </p:txBody>
      </p:sp>
      <p:sp>
        <p:nvSpPr>
          <p:cNvPr id="18" name="Text 16"/>
          <p:cNvSpPr txBox="1"/>
          <p:nvPr/>
        </p:nvSpPr>
        <p:spPr>
          <a:xfrm>
            <a:off x="8330184" y="21579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مجلسِ مؤسسان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256032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پیش‌نویسِ قانون اساسی با بیشترین مشارکت در تدوین — نه پشتِ درهای بسته. و تعیینِ تاریخِ رأی‌گیری پیش از آنکه لازم شود.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30184" y="4315968"/>
            <a:ext cx="3108960" cy="0"/>
          </a:xfrm>
          <a:prstGeom prst="line">
            <a:avLst/>
          </a:prstGeom>
          <a:noFill/>
          <a:ln w="12700">
            <a:solidFill>
              <a:srgbClr val="2B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30184" y="442569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فرایندِ تأسیس · فردمحوری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هیچ‌کدام به مجوزِ هیچ نهادی نیاز ندارد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رجیسترِ ریسک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پادزهرِ طراحی‌شده   ·   اثر   ·   ریسک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17904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0" y="16093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میثاق به سندِ یک جناح تقلیل یابد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9164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60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69164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بحرانی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0934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امضاکنندگانِ نخست عمداً از جریان‌های متفاوت؛ متن بدون هیچ ارجاعی به فرمِ حکومت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8F9FC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23957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خشونتِ کلامیِ هواداران هزینهٔ پیوستن را بالا ببرد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2478024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4780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بالا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239572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موضع‌گیریِ مکررِ شخصِ محوری بر مواضع اصولی، به‌علاوهٔ ضابطهٔ رفتاریِ علنی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90672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0" y="318211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عدالت انتقالی «معافیت» خوانده شود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55080" y="3264408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32644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بالا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182112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عفوِ مشروط به اعترافِ کامل و علنی؛ حضورِ خانواده‌های داغدار در خودِ کمیته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77056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8F9FC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0" y="39684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صندوق به اتهامِ مالی آلوده شود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355080" y="4050792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60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40507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بحرانی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968496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حسابرسیِ مستقلِ ماهانه، سه امضا، انتشارِ کاملِ دفتر، و عدمِ امضای شخصِ محوری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1F3F8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0" y="47548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اتهامِ وابستگی به بازیگرِ خارجی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4837176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A44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483717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بالا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7548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شفافیتِ کاملِ منابع؛ تفکیکِ صریحِ فشارِ حقوق‌بشری از مداخلهٔ نظامی در هر متن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449824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8F9FC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554126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موفقیتِ نسبی به تمرکزِ قدرت بینجامد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55080" y="5623560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D9604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55080" y="56235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بحرانی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541264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ابتکار سوم، دبیرخانهٔ بی‌چهره، و نهادِ داده‌ای که خودِ ائتلاف را هم می‌سنجد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شاخص‌های پیشرو — قابل اندازه‌گیری در ۹۰ روز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04688" y="2039112"/>
            <a:ext cx="274320" cy="274320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642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تنوعِ امضا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993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نسبتِ امضاکنندگانی که از جریان‌های غیرِ پادشاهی‌خواه‌اند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68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هدف &gt; ۵۰٪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36192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73968" y="2039112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1664208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نرخِ ریزشِ لحن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9933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سنجشِ خشونتِ کلامی، پیش و پس از موضع‌گیری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4688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کاهشِ محسوس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04688" y="3520440"/>
            <a:ext cx="274320" cy="274320"/>
          </a:xfrm>
          <a:prstGeom prst="ellipse">
            <a:avLst/>
          </a:prstGeom>
          <a:solidFill>
            <a:srgbClr val="3FB6A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1455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پوششِ صندوق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3474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تعدادی که صندوق سه ماه حقوقشان را تضمین می‌کند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9502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FB6A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هدف اولیه ۱۰٬۰۰۰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73968" y="3520440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3145536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اعتبارِ نهادِ داده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3474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دست‌کم یک گزارش که ادعایی از سمتِ اپوزیسیون را رد کند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9502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۱ مورد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98848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04688" y="5001768"/>
            <a:ext cx="274320" cy="274320"/>
          </a:xfrm>
          <a:prstGeom prst="ellipse">
            <a:avLst/>
          </a:prstGeom>
          <a:solidFill>
            <a:srgbClr val="5B8A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46268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نفوذِ متنِ عدالت انتقالی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4956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شواهدِ رسیدنِ متن به لایهٔ اجراییِ میانی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4315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5B8A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کیفی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498848"/>
            <a:ext cx="5440680" cy="1280160"/>
          </a:xfrm>
          <a:prstGeom prst="roundRect">
            <a:avLst>
              <a:gd name="adj" fmla="val 8571"/>
            </a:avLst>
          </a:prstGeom>
          <a:solidFill>
            <a:srgbClr val="1A2334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73968" y="5001768"/>
            <a:ext cx="274320" cy="274320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73952" y="462686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هم‌زمانی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73952" y="495604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نسبتِ مشارکتِ واقعی به مشارکتِ اعلامی در نخستین فراخوانِ آزمایشی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543153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D9604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آزمونِ مستقیم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شاخص ششم، تنها آزمونِ مستقیمِ حلِ مسئلهٔ هماهنگی است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بخش ۱۰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درخواستِ مشخص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سه اقدام، هر سه در افقِ نود روز، هیچ‌کدام نیازمندِ مجوزِ هیچ نهادی.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227685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39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انتشارِ نسخهٔ صفرِ میثاقِ چهاربندی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414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با دعوتِ علنی از جریان‌های رقیب برای امضا، و با این تصریح که متن قابلِ ویرایش است و مالکِ آن هیچ‌کس نیست.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3648456"/>
            <a:ext cx="402336" cy="40233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0" y="3648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4107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موضع‌گیریِ صریح و مکرر نسبت به رفتارِ هواداران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8130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نه به‌عنوان تعارف، بلکه به‌عنوان یک اقدامِ استراتژیکِ اعلام‌شده. طبق ارزیابیِ نقل‌شده، اثرِ این یک اقدام «۸۰ تا ۹۰ درصدِ مسئله» است.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DF6E6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0" y="5020056"/>
            <a:ext cx="402336" cy="402336"/>
          </a:xfrm>
          <a:prstGeom prst="ellipse">
            <a:avLst/>
          </a:prstGeom>
          <a:solidFill>
            <a:srgbClr val="D960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0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823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تصمیم دربارهٔ ابتکار سوم — گزینهٔ الف یا ب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8464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تنها موردی از این سند که به‌جای کسِ دیگری قابلِ انجام نیست.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8A601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«احیا شدنی است، اما تضمین‌شده نیست.» — این سند نمی‌کوشد آن تضمین را بسازد؛ می‌کوشد نشان دهد کدام حرکت‌ها احتمال را به‌طرزِ معناداری بالا می‌برند.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سی مرغ، سیمرغ بود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سی مرغ به قله رسیدند، دنبالِ آن پرندهٔ عظیم گشتند و پیدایش نکردند.</a:t>
            </a:r>
            <a:endParaRPr lang="en-US" sz="1500" dirty="0"/>
          </a:p>
          <a:p>
            <a:pPr rtl="1"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E8EC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خم شدند و در آبِ ساکن نگاه کردند و سی تصویر دیدند که روی هم، شکلِ یک پرنده می‌ساخت.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38912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و سه نکته که اگر نگوییم، صادق نبوده‌ایم:</a:t>
            </a:r>
            <a:endParaRPr lang="en-US" sz="1250" dirty="0"/>
          </a:p>
          <a:p>
            <a:pPr rtl="1"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سی مرغ از سیصد هزار باقی ماندند — هزینه در خودِ قصه هم هست.</a:t>
            </a:r>
            <a:endParaRPr lang="en-US" sz="1250" dirty="0"/>
          </a:p>
          <a:p>
            <a:pPr rtl="1"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رسیدن به آبگیر، نقطهٔ شروعِ کارِ سخت است نه پایانش.</a:t>
            </a:r>
            <a:endParaRPr lang="en-US" sz="1250" dirty="0"/>
          </a:p>
          <a:p>
            <a:pPr rtl="1" algn="ct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آنچه در ایران مکرراً کم بوده نه انگیزه بوده نه استعداد — نهاد بوده.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97A2B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پیوست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روش، منابع و محدودیت‌ها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0" y="15727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منبعِ اصلی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«ایران، از تبار تا تأسیس» — گزارشی مدوّن از هشت مجموعه گفت‌وگو، کارگاه و مستند؛ دفترهای هفتم و هشتم.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47802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منابعِ عددی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5973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مرکز آمار ایران · مرکز پژوهش‌های مجلس · بانک جهانی · پیمایش اجتماعی ایران (۱۳۹۵) · پیمایش ملی ارزش‌ها و نگرش‌ها (موج چهارم، ۱۴۰۲) · گَمان · UN WPP · IISS · Stanford Iran 2040.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3832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جدول‌های هزینه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64992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مدل‌اند نه یافته. از قیاسِ گذارهای مستند ساخته و به جمعیتِ ۸۷ میلیونی مقیاس شده‌اند. عدم قطعیتشان بالاست.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288536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صدای غایب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7024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جمهوری‌خواهیِ سازمان‌یافته و برنامه‌محور در هیچ‌یک از آن هشت پرونده حاضر نبوده. این خلأ لحاظ شده اما جبران نشده است.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065776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F4F6FA"/>
          </a:solidFill>
          <a:ln w="9525">
            <a:solidFill>
              <a:srgbClr val="2B35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5193792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داوریِ ارزشی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175504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یک مورد، و همین‌جا اعلام می‌شود: کاهشِ خشونت بر سرعتِ گذار اولویت دارد. هر توصیهٔ این سند از همین اصل مشتق شده.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10819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31A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این سند پیش‌بینیِ آینده نیست. یک مدلِ تصمیم است.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2910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01400" y="6291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A647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پَرِ سیمرغ — از اجماع سلبی به تأسیس ایجابی</dc:title>
  <dc:subject>PptxGenJS Presentation</dc:subject>
  <dc:creator/>
  <cp:lastModifiedBy/>
  <cp:revision>1</cp:revision>
  <dcterms:created xsi:type="dcterms:W3CDTF">2026-08-27T09:40:27Z</dcterms:created>
  <dcterms:modified xsi:type="dcterms:W3CDTF">2026-08-27T09:40:27Z</dcterms:modified>
</cp:coreProperties>
</file>